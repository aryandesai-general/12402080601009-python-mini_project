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62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F3BFB5-9FC6-4E07-A3DF-FB4261A09818}" v="764" dt="2026-10-05T19:14:54.0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5/10/relationships/revisionInfo" Target="revisionInfo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56" y="163105"/>
            <a:ext cx="1514956" cy="877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6659" y="163105"/>
            <a:ext cx="1273346" cy="8716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65960" y="292608"/>
            <a:ext cx="82296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050" b="1">
                <a:solidFill>
                  <a:srgbClr val="4338CA"/>
                </a:solidFill>
                <a:latin typeface="Aptos"/>
              </a:defRPr>
            </a:pPr>
            <a:r>
              <a:rPr sz="1600" dirty="0"/>
              <a:t>CHARUTAR VIDYAMANDAL UNIVERSITY (CVMU)</a:t>
            </a:r>
            <a:endParaRPr lang="en-US" sz="1600"/>
          </a:p>
        </p:txBody>
      </p:sp>
      <p:sp>
        <p:nvSpPr>
          <p:cNvPr id="6" name="TextBox 5"/>
          <p:cNvSpPr txBox="1"/>
          <p:nvPr/>
        </p:nvSpPr>
        <p:spPr>
          <a:xfrm>
            <a:off x="1959765" y="597606"/>
            <a:ext cx="822960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950" b="1">
                <a:solidFill>
                  <a:srgbClr val="475569"/>
                </a:solidFill>
                <a:latin typeface="Aptos"/>
              </a:defRPr>
            </a:pPr>
            <a:r>
              <a:rPr sz="1400" dirty="0"/>
              <a:t>A. D. PATEL INSTITUTE OF TECHNOLOGY (ADIT)</a:t>
            </a:r>
            <a:endParaRPr lang="en-US" sz="1400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3327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900" b="1">
                <a:solidFill>
                  <a:srgbClr val="14253F"/>
                </a:solidFill>
                <a:latin typeface="Aptos"/>
              </a:defRPr>
            </a:pPr>
            <a:r>
              <a:t>AI-DRIVEN ACADEMIC TIMETABLE</a:t>
            </a:r>
            <a:br/>
            <a:r>
              <a:t>GENERATOR &amp; SCHEDULE OPTIMIZER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3154680"/>
            <a:ext cx="6446520" cy="13303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54680" y="3337560"/>
            <a:ext cx="1920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475569"/>
                </a:solidFill>
                <a:latin typeface="Aptos"/>
              </a:defRPr>
            </a:pPr>
            <a:r>
              <a:t>SUBJECT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291840"/>
            <a:ext cx="4343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4338CA"/>
                </a:solidFill>
                <a:latin typeface="Aptos"/>
              </a:defRPr>
            </a:pPr>
            <a:r>
              <a:rPr/>
              <a:t>Programming with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3730752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475569"/>
                </a:solidFill>
                <a:latin typeface="Aptos"/>
              </a:defRPr>
            </a:pPr>
            <a:r>
              <a:t>COURSE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675887"/>
            <a:ext cx="4343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563EB"/>
                </a:solidFill>
                <a:latin typeface="Aptos"/>
              </a:defRPr>
            </a:pPr>
            <a:r>
              <a:t>202044503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26280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D97706"/>
                </a:solidFill>
                <a:latin typeface="Aptos"/>
              </a:defRPr>
            </a:pPr>
            <a:r>
              <a:rPr/>
              <a:t>PROJECT 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9609" y="4892040"/>
            <a:ext cx="1005840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050" b="0">
                <a:solidFill>
                  <a:srgbClr val="14253F"/>
                </a:solidFill>
                <a:latin typeface="Aptos"/>
              </a:defRPr>
            </a:pPr>
            <a:r>
              <a:rPr sz="1200"/>
              <a:t>Desai Aryan M.  •  12402080601009</a:t>
            </a:r>
            <a:endParaRPr lang="en-US" sz="1200"/>
          </a:p>
        </p:txBody>
      </p:sp>
      <p:sp>
        <p:nvSpPr>
          <p:cNvPr id="16" name="TextBox 15"/>
          <p:cNvSpPr txBox="1"/>
          <p:nvPr/>
        </p:nvSpPr>
        <p:spPr>
          <a:xfrm>
            <a:off x="1051560" y="5239512"/>
            <a:ext cx="1005840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050" b="0">
                <a:solidFill>
                  <a:srgbClr val="14253F"/>
                </a:solidFill>
                <a:latin typeface="Aptos"/>
              </a:defRPr>
            </a:pPr>
            <a:r>
              <a:rPr sz="1200"/>
              <a:t/>
            </a:r>
            <a:endParaRPr lang="en-US" sz="1200"/>
          </a:p>
        </p:txBody>
      </p:sp>
      <p:sp>
        <p:nvSpPr>
          <p:cNvPr id="17" name="TextBox 16"/>
          <p:cNvSpPr txBox="1"/>
          <p:nvPr/>
        </p:nvSpPr>
        <p:spPr>
          <a:xfrm>
            <a:off x="1026780" y="5586983"/>
            <a:ext cx="1005840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050" b="0">
                <a:solidFill>
                  <a:srgbClr val="14253F"/>
                </a:solidFill>
                <a:latin typeface="Aptos"/>
              </a:defRPr>
            </a:pPr>
            <a:r>
              <a:rPr sz="1200"/>
              <a:t/>
            </a:r>
            <a:endParaRPr lang="en-US" sz="1200"/>
          </a:p>
        </p:txBody>
      </p:sp>
      <p:sp>
        <p:nvSpPr>
          <p:cNvPr id="19" name="Rectangle 18"/>
          <p:cNvSpPr/>
          <p:nvPr/>
        </p:nvSpPr>
        <p:spPr>
          <a:xfrm>
            <a:off x="594360" y="6510528"/>
            <a:ext cx="11000232" cy="3657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20B326-BF6E-D35A-F106-047F142E9DC8}"/>
              </a:ext>
            </a:extLst>
          </p:cNvPr>
          <p:cNvSpPr txBox="1"/>
          <p:nvPr/>
        </p:nvSpPr>
        <p:spPr>
          <a:xfrm>
            <a:off x="3631227" y="4090108"/>
            <a:ext cx="157842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ea typeface="Calibri"/>
                <a:cs typeface="Calibri"/>
              </a:rPr>
              <a:t>Department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ADA472-ADDD-86C2-E94C-132DDC036329}"/>
              </a:ext>
            </a:extLst>
          </p:cNvPr>
          <p:cNvSpPr txBox="1"/>
          <p:nvPr/>
        </p:nvSpPr>
        <p:spPr>
          <a:xfrm>
            <a:off x="5674178" y="4088338"/>
            <a:ext cx="398689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solidFill>
                  <a:srgbClr val="2462E9"/>
                </a:solidFill>
                <a:ea typeface="Calibri"/>
                <a:cs typeface="Calibri"/>
              </a:rPr>
              <a:t>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84048" y="228600"/>
            <a:ext cx="109728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1097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Aptos"/>
              </a:defRPr>
            </a:pPr>
            <a:r>
              <a:t>LOGO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16768" y="228600"/>
            <a:ext cx="109728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16768" y="228600"/>
            <a:ext cx="1097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Aptos"/>
              </a:defRPr>
            </a:pPr>
            <a:r>
              <a:t>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46888"/>
            <a:ext cx="8869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4338CA"/>
                </a:solidFill>
                <a:latin typeface="Aptos"/>
              </a:defRPr>
            </a:pPr>
            <a:r>
              <a:t>CVM UNIVERSITY  •  A. D. PATEL INSTITUTE OF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22960"/>
            <a:ext cx="10881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B1426"/>
                </a:solidFill>
                <a:latin typeface="Aptos"/>
              </a:defRPr>
            </a:pPr>
            <a:r>
              <a:t>Project Blueprint: The 6 Core System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98448"/>
            <a:ext cx="10698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Aptos"/>
              </a:defRPr>
            </a:pPr>
            <a:r>
              <a:t>From physical resources and student batching to AI scheduling and export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10881360" cy="10972"/>
          </a:xfrm>
          <a:prstGeom prst="rect">
            <a:avLst/>
          </a:prstGeom>
          <a:solidFill>
            <a:srgbClr val="DD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" y="1965960"/>
            <a:ext cx="3401568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2959" y="2148840"/>
            <a:ext cx="530352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2148840"/>
            <a:ext cx="5303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9616" y="2130552"/>
            <a:ext cx="2331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0B1426"/>
                </a:solidFill>
                <a:latin typeface="Aptos"/>
              </a:defRPr>
            </a:pPr>
            <a:r>
              <a:t>Classroom &amp; Lab</a:t>
            </a:r>
            <a:br/>
            <a:r>
              <a:t>Infrastructure 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2907791"/>
            <a:ext cx="2880360" cy="6001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buFont typeface="Arial"/>
              <a:buChar char="•"/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100" dirty="0"/>
              <a:t>36 rooms </a:t>
            </a:r>
            <a:endParaRPr lang="en-US" dirty="0"/>
          </a:p>
          <a:p>
            <a:pPr marL="171450" indent="-171450">
              <a:buFont typeface="Arial"/>
              <a:buChar char="•"/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100" dirty="0"/>
              <a:t> dynamic seating </a:t>
            </a:r>
            <a:endParaRPr lang="en-US" sz="1050" dirty="0"/>
          </a:p>
          <a:p>
            <a:pPr marL="171450" indent="-171450" algn="l">
              <a:buFont typeface="Arial"/>
              <a:buChar char="•"/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100" dirty="0"/>
              <a:t>specialized equipment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4361688" y="1965960"/>
            <a:ext cx="3401568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26279" y="2148840"/>
            <a:ext cx="530352" cy="438912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26279" y="2148840"/>
            <a:ext cx="5303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2936" y="2130552"/>
            <a:ext cx="2331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0B1426"/>
                </a:solidFill>
                <a:latin typeface="Aptos"/>
              </a:defRPr>
            </a:pPr>
            <a:r>
              <a:t>Student Entry &amp;</a:t>
            </a:r>
            <a:br/>
            <a:r>
              <a:t>Division Calculator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2907791"/>
            <a:ext cx="288036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buFont typeface="Arial"/>
              <a:buChar char="•"/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200" dirty="0"/>
              <a:t>ceil(Intake/90) </a:t>
            </a:r>
            <a:endParaRPr lang="en-US" dirty="0"/>
          </a:p>
          <a:p>
            <a:pPr marL="171450" indent="-171450" algn="l">
              <a:buFont typeface="Arial"/>
              <a:buChar char="•"/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200" dirty="0"/>
              <a:t> 4 batches per division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8065008" y="1965960"/>
            <a:ext cx="3401568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229600" y="2148840"/>
            <a:ext cx="530352" cy="438912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0" y="2148840"/>
            <a:ext cx="5303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06256" y="2130552"/>
            <a:ext cx="2331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0B1426"/>
                </a:solidFill>
                <a:latin typeface="Aptos"/>
              </a:defRPr>
            </a:pPr>
            <a:r>
              <a:t>Subject &amp;</a:t>
            </a:r>
            <a:br/>
            <a:r>
              <a:t>Curriculum Manager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4584" y="2777693"/>
            <a:ext cx="288036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buFont typeface="Arial"/>
              <a:buChar char="•"/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200" dirty="0"/>
              <a:t>L-T-P-C </a:t>
            </a:r>
            <a:endParaRPr lang="en-US" dirty="0"/>
          </a:p>
          <a:p>
            <a:pPr marL="171450" indent="-171450">
              <a:buFont typeface="Arial"/>
              <a:buChar char="•"/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200" dirty="0"/>
              <a:t>PCC/PEC/OEC </a:t>
            </a:r>
            <a:endParaRPr lang="en-US" sz="1050" dirty="0"/>
          </a:p>
          <a:p>
            <a:pPr marL="171450" indent="-171450" algn="l">
              <a:buFont typeface="Arial"/>
              <a:buChar char="•"/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200" dirty="0"/>
              <a:t> credit priority</a:t>
            </a:r>
            <a:endParaRPr dirty="0"/>
          </a:p>
        </p:txBody>
      </p:sp>
      <p:sp>
        <p:nvSpPr>
          <p:cNvPr id="27" name="Rounded Rectangle 26"/>
          <p:cNvSpPr/>
          <p:nvPr/>
        </p:nvSpPr>
        <p:spPr>
          <a:xfrm>
            <a:off x="658368" y="3931920"/>
            <a:ext cx="3401568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22959" y="4114800"/>
            <a:ext cx="530352" cy="43891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59" y="4114800"/>
            <a:ext cx="5303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99616" y="4096511"/>
            <a:ext cx="2331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0B1426"/>
                </a:solidFill>
                <a:latin typeface="Aptos"/>
              </a:defRPr>
            </a:pPr>
            <a:r>
              <a:t>Faculty Profiling &amp;</a:t>
            </a:r>
            <a:br/>
            <a:r>
              <a:t>Priority Allotment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4743654"/>
            <a:ext cx="2880360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buFont typeface="Arial"/>
              <a:buChar char="•"/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200" dirty="0"/>
              <a:t>55 faculty </a:t>
            </a:r>
            <a:endParaRPr lang="en-US" sz="1200"/>
          </a:p>
          <a:p>
            <a:pPr marL="171450" indent="-171450">
              <a:buFont typeface="Arial"/>
              <a:buChar char="•"/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200" dirty="0"/>
              <a:t>skills </a:t>
            </a:r>
            <a:endParaRPr lang="en-US" sz="1200" dirty="0"/>
          </a:p>
          <a:p>
            <a:pPr marL="171450" indent="-171450">
              <a:buFont typeface="Arial"/>
              <a:buChar char="•"/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200" dirty="0"/>
              <a:t> top-3 choices </a:t>
            </a:r>
            <a:endParaRPr lang="en-US" sz="1200"/>
          </a:p>
          <a:p>
            <a:pPr marL="171450" indent="-171450" algn="l">
              <a:buFont typeface="Arial"/>
              <a:buChar char="•"/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200" dirty="0"/>
              <a:t> pooling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61688" y="3931920"/>
            <a:ext cx="3401568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526279" y="4114800"/>
            <a:ext cx="530352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26279" y="4114800"/>
            <a:ext cx="5303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02936" y="4096511"/>
            <a:ext cx="2331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0B1426"/>
                </a:solidFill>
                <a:latin typeface="Aptos"/>
              </a:defRPr>
            </a:pPr>
            <a:r>
              <a:t>Workload Balancing</a:t>
            </a:r>
            <a:br/>
            <a:r>
              <a:t>&amp; HoD Quotas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0288" y="4873752"/>
            <a:ext cx="288036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buFont typeface="Arial"/>
              <a:buChar char="•"/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200" dirty="0"/>
              <a:t>12–16h target </a:t>
            </a:r>
            <a:endParaRPr lang="en-US" sz="1200"/>
          </a:p>
          <a:p>
            <a:pPr marL="171450" indent="-171450" algn="l">
              <a:buFont typeface="Arial"/>
              <a:buChar char="•"/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200" dirty="0"/>
              <a:t> 3–6h </a:t>
            </a:r>
            <a:r>
              <a:rPr sz="1200" dirty="0" err="1"/>
              <a:t>HoD</a:t>
            </a:r>
            <a:r>
              <a:rPr sz="1200" dirty="0"/>
              <a:t> protected load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65008" y="3931920"/>
            <a:ext cx="3401568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229600" y="4114800"/>
            <a:ext cx="530352" cy="43891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29600" y="4114800"/>
            <a:ext cx="53035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06256" y="4096511"/>
            <a:ext cx="2331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0B1426"/>
                </a:solidFill>
                <a:latin typeface="Aptos"/>
              </a:defRPr>
            </a:pPr>
            <a:r>
              <a:t>AI Timetable Engine</a:t>
            </a:r>
            <a:br/>
            <a:r>
              <a:t>&amp; Export Suite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4584" y="4743654"/>
            <a:ext cx="2880360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buFont typeface="Arial"/>
              <a:buChar char="•"/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200" dirty="0"/>
              <a:t>collision-free generation </a:t>
            </a:r>
            <a:endParaRPr lang="en-US" sz="1200" dirty="0"/>
          </a:p>
          <a:p>
            <a:pPr marL="171450" indent="-171450">
              <a:buFont typeface="Arial"/>
              <a:buChar char="•"/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200" dirty="0"/>
              <a:t> A4 </a:t>
            </a:r>
            <a:endParaRPr lang="en-US" sz="1200" dirty="0"/>
          </a:p>
          <a:p>
            <a:pPr marL="171450" indent="-171450">
              <a:buFont typeface="Arial"/>
              <a:buChar char="•"/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200" dirty="0"/>
              <a:t>PNG</a:t>
            </a:r>
            <a:endParaRPr lang="en-US" sz="1200" dirty="0"/>
          </a:p>
          <a:p>
            <a:pPr marL="171450" indent="-171450">
              <a:buFont typeface="Arial"/>
              <a:buChar char="•"/>
              <a:defRPr sz="1050" b="0">
                <a:solidFill>
                  <a:srgbClr val="64748B"/>
                </a:solidFill>
                <a:latin typeface="Aptos"/>
              </a:defRPr>
            </a:pPr>
            <a:r>
              <a:rPr lang="en-US" sz="1200" dirty="0"/>
              <a:t> </a:t>
            </a:r>
            <a:r>
              <a:rPr sz="1200" dirty="0"/>
              <a:t>CSV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cvm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6957"/>
            <a:ext cx="1135318" cy="763982"/>
          </a:xfrm>
          <a:prstGeom prst="rect">
            <a:avLst/>
          </a:prstGeom>
        </p:spPr>
      </p:pic>
      <p:pic>
        <p:nvPicPr>
          <p:cNvPr id="44" name="Picture 43" descr="adit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3583" y="73152"/>
            <a:ext cx="1172489" cy="7577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84048" y="228600"/>
            <a:ext cx="109728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1097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Aptos"/>
              </a:defRPr>
            </a:pPr>
            <a:r>
              <a:t>LOGO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16768" y="228600"/>
            <a:ext cx="109728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16768" y="228600"/>
            <a:ext cx="1097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Aptos"/>
              </a:defRPr>
            </a:pPr>
            <a:r>
              <a:t>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46888"/>
            <a:ext cx="8869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4338CA"/>
                </a:solidFill>
                <a:latin typeface="Aptos"/>
              </a:defRPr>
            </a:pPr>
            <a:r>
              <a:t>CVM UNIVERSITY  •  A. D. PATEL INSTITUTE OF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22960"/>
            <a:ext cx="10881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B1426"/>
                </a:solidFill>
                <a:latin typeface="Aptos"/>
              </a:defRPr>
            </a:pPr>
            <a:r>
              <a:t>Section 1 &amp; Section 2: Infrastructure + Student Divisions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98448"/>
            <a:ext cx="10698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Aptos"/>
              </a:defRPr>
            </a:pPr>
            <a:r>
              <a:t>Building the physical and student-organization foundation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10881360" cy="10972"/>
          </a:xfrm>
          <a:prstGeom prst="rect">
            <a:avLst/>
          </a:prstGeom>
          <a:solidFill>
            <a:srgbClr val="DD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1965960"/>
            <a:ext cx="5394960" cy="3794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965960"/>
            <a:ext cx="73152" cy="3794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148840"/>
            <a:ext cx="4937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Aptos"/>
              </a:defRPr>
            </a:pPr>
            <a:r>
              <a:t>SECTION 1 • CLASSROOM &amp; LAB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651760"/>
            <a:ext cx="4937760" cy="14875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  <a:defRPr sz="111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• Catalogs 36 facilities: common classrooms (capacity 80–90) and specialized labs (capacity 40).</a:t>
            </a:r>
            <a:endParaRPr lang="en-US" sz="1400" dirty="0"/>
          </a:p>
          <a:p>
            <a:pPr>
              <a:spcAft>
                <a:spcPts val="400"/>
              </a:spcAft>
              <a:defRPr sz="111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• Classrooms such as 213, 214, 209 and others are common shared resources across branches.</a:t>
            </a:r>
            <a:endParaRPr sz="1200" dirty="0"/>
          </a:p>
          <a:p>
            <a:pPr>
              <a:spcAft>
                <a:spcPts val="400"/>
              </a:spcAft>
              <a:defRPr sz="111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• Tracks high-lumen projectors, smart boards, audio setups and dedicated CAD/computer hardware.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965960"/>
            <a:ext cx="5394960" cy="3794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1965960"/>
            <a:ext cx="73152" cy="37947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2148840"/>
            <a:ext cx="4937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4338CA"/>
                </a:solidFill>
                <a:latin typeface="Aptos"/>
              </a:defRPr>
            </a:pPr>
            <a:r>
              <a:t>SECTION 2 • STUDENT ENTRY &amp; DIVISIONS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51760"/>
            <a:ext cx="4937760" cy="14875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  <a:defRPr sz="111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• Division formula: Divisions = ceil(Intake / 90). Example: CE → 3 divisions; IT → 2 divisions.</a:t>
            </a:r>
          </a:p>
          <a:p>
            <a:pPr>
              <a:spcAft>
                <a:spcPts val="400"/>
              </a:spcAft>
              <a:defRPr sz="111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• Each division is automatically split into 4 batches: A, B, C and D, typically 20–22 students.</a:t>
            </a:r>
          </a:p>
          <a:p>
            <a:pPr>
              <a:spcAft>
                <a:spcPts val="400"/>
              </a:spcAft>
              <a:defRPr sz="111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• Lab pairing: Batches A+B in Lab 1 and C+D in Lab 2 for an efficient student–teacher ratio.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5870448"/>
            <a:ext cx="5257800" cy="438912"/>
          </a:xfrm>
          <a:prstGeom prst="round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66160" y="5916168"/>
            <a:ext cx="5074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DIVISIONS = ⌈ INTAKE / 90 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cvm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6957"/>
            <a:ext cx="1271611" cy="745396"/>
          </a:xfrm>
          <a:prstGeom prst="rect">
            <a:avLst/>
          </a:prstGeom>
        </p:spPr>
      </p:pic>
      <p:pic>
        <p:nvPicPr>
          <p:cNvPr id="24" name="Picture 23" descr="adit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363" y="73152"/>
            <a:ext cx="1147709" cy="7330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84048" y="228600"/>
            <a:ext cx="109728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1097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Aptos"/>
              </a:defRPr>
            </a:pPr>
            <a:r>
              <a:t>LOGO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16768" y="228600"/>
            <a:ext cx="109728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16768" y="228600"/>
            <a:ext cx="1097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Aptos"/>
              </a:defRPr>
            </a:pPr>
            <a:r>
              <a:t>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46888"/>
            <a:ext cx="8869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4338CA"/>
                </a:solidFill>
                <a:latin typeface="Aptos"/>
              </a:defRPr>
            </a:pPr>
            <a:r>
              <a:t>CVM UNIVERSITY  •  A. D. PATEL INSTITUTE OF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22960"/>
            <a:ext cx="10881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B1426"/>
                </a:solidFill>
                <a:latin typeface="Aptos"/>
              </a:defRPr>
            </a:pPr>
            <a:r>
              <a:t>Section 3 &amp; Section 4: Curriculum + Faculty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98448"/>
            <a:ext cx="10698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Aptos"/>
              </a:defRPr>
            </a:pPr>
            <a:r>
              <a:t>Mapping academic requirements to verified faculty expertise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10881360" cy="10972"/>
          </a:xfrm>
          <a:prstGeom prst="rect">
            <a:avLst/>
          </a:prstGeom>
          <a:solidFill>
            <a:srgbClr val="DD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1965960"/>
            <a:ext cx="5394960" cy="388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1965960"/>
            <a:ext cx="73152" cy="38862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148840"/>
            <a:ext cx="4937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891B2"/>
                </a:solidFill>
                <a:latin typeface="Aptos"/>
              </a:defRPr>
            </a:pPr>
            <a:r>
              <a:t>SECTION 3 • SUBJECT &amp; CURRICULUM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00" y="2651760"/>
            <a:ext cx="4962540" cy="12721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  <a:defRPr sz="111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Full GTU / AICTE L-T-P-C scheme: Lectures, Tutorials, Practicals and Credits.</a:t>
            </a:r>
            <a:endParaRPr lang="en-US"/>
          </a:p>
          <a:p>
            <a:pPr marL="285750" indent="-285750">
              <a:spcAft>
                <a:spcPts val="400"/>
              </a:spcAft>
              <a:buFont typeface="Arial"/>
              <a:buChar char="•"/>
              <a:defRPr sz="111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 Categories include PCC, PEC, OEC and BSC subjects.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  <a:defRPr sz="111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 4- and 5-credit subjects receive automatic priority for morning slots (9:05–11:45 AM).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965960"/>
            <a:ext cx="5394960" cy="388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1965960"/>
            <a:ext cx="73152" cy="3886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2148840"/>
            <a:ext cx="4937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Aptos"/>
              </a:defRPr>
            </a:pPr>
            <a:r>
              <a:t>SECTION 4 • FACULTY PROFILING &amp; ALLOTMENT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51760"/>
            <a:ext cx="4937760" cy="196977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  <a:defRPr sz="111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55 authentic faculty profiles across CE, IT, CSD, AIDS, ME, CL, EE, CH and ASH.</a:t>
            </a:r>
            <a:endParaRPr lang="en-US" dirty="0"/>
          </a:p>
          <a:p>
            <a:pPr marL="285750" indent="-285750">
              <a:spcAft>
                <a:spcPts val="400"/>
              </a:spcAft>
              <a:buFont typeface="Arial"/>
              <a:buChar char="•"/>
              <a:defRPr sz="111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Verified skill keywords and top-3 subject priority preferences are stored for each professor.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  <a:defRPr sz="111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 Inter-departmental pooling: IT ↔ AIDS, CE ↔ CSD, plus ASH for Open Electives.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  <a:defRPr sz="111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AI priority scoring gives a +200 bonus for subject matches to verified specialization.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cvm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6957"/>
            <a:ext cx="1098147" cy="751591"/>
          </a:xfrm>
          <a:prstGeom prst="rect">
            <a:avLst/>
          </a:prstGeom>
        </p:spPr>
      </p:pic>
      <p:pic>
        <p:nvPicPr>
          <p:cNvPr id="22" name="Picture 21" descr="adit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9339" y="73152"/>
            <a:ext cx="1116733" cy="7268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84048" y="228600"/>
            <a:ext cx="109728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1097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Aptos"/>
              </a:defRPr>
            </a:pPr>
            <a:r>
              <a:t>LOGO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16768" y="228600"/>
            <a:ext cx="109728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16768" y="228600"/>
            <a:ext cx="1097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Aptos"/>
              </a:defRPr>
            </a:pPr>
            <a:r>
              <a:t>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46888"/>
            <a:ext cx="8869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4338CA"/>
                </a:solidFill>
                <a:latin typeface="Aptos"/>
              </a:defRPr>
            </a:pPr>
            <a:r>
              <a:t>CVM UNIVERSITY  •  A. D. PATEL INSTITUTE OF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22960"/>
            <a:ext cx="10881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B1426"/>
                </a:solidFill>
                <a:latin typeface="Aptos"/>
              </a:defRPr>
            </a:pPr>
            <a:r>
              <a:t>Section 5: Workload Balancing &amp; HoD Quotas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98448"/>
            <a:ext cx="10698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Aptos"/>
              </a:defRPr>
            </a:pPr>
            <a:r>
              <a:t>Fair allocation with protected administrative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10881360" cy="10972"/>
          </a:xfrm>
          <a:prstGeom prst="rect">
            <a:avLst/>
          </a:prstGeom>
          <a:solidFill>
            <a:srgbClr val="DD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1847088"/>
            <a:ext cx="25146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01168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059669"/>
                </a:solidFill>
                <a:latin typeface="Aptos"/>
              </a:defRPr>
            </a:pPr>
            <a:r>
              <a:t>55 / 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560320"/>
            <a:ext cx="2240280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64748B"/>
                </a:solidFill>
                <a:latin typeface="Aptos"/>
              </a:defRPr>
            </a:pPr>
            <a:r>
              <a:t>Faculty Allotted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847088"/>
            <a:ext cx="25146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0" y="201168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2563E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560320"/>
            <a:ext cx="2240280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64748B"/>
                </a:solidFill>
                <a:latin typeface="Aptos"/>
              </a:defRPr>
            </a:pPr>
            <a:r>
              <a:t>Faculty with 0 Subjects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847088"/>
            <a:ext cx="25146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201168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4338CA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560320"/>
            <a:ext cx="2240280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64748B"/>
                </a:solidFill>
                <a:latin typeface="Aptos"/>
              </a:defRPr>
            </a:pPr>
            <a:r>
              <a:t>Faculty with 0 Hours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39" y="1847088"/>
            <a:ext cx="25146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3999" y="201168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D97706"/>
                </a:solidFill>
                <a:latin typeface="Aptos"/>
              </a:defRPr>
            </a:pPr>
            <a:r>
              <a:t>14h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3999" y="2560320"/>
            <a:ext cx="2240280" cy="5029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64748B"/>
                </a:solidFill>
                <a:latin typeface="Aptos"/>
              </a:defRPr>
            </a:pPr>
            <a:r>
              <a:t>Balanced Target / Week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456432"/>
            <a:ext cx="5394960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3456432"/>
            <a:ext cx="73152" cy="2240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3639312"/>
            <a:ext cx="4937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DC2626"/>
                </a:solidFill>
                <a:latin typeface="Aptos"/>
              </a:defRPr>
            </a:pPr>
            <a:r>
              <a:t>HoD ADMIN QUOTA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142231"/>
            <a:ext cx="4937760" cy="100540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  <a:defRPr sz="111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Protected time supports departmental governance, NBA/NAAC accreditation and academic meetings.</a:t>
            </a:r>
            <a:endParaRPr lang="en-US"/>
          </a:p>
          <a:p>
            <a:pPr marL="285750" indent="-285750">
              <a:spcAft>
                <a:spcPts val="400"/>
              </a:spcAft>
              <a:buFont typeface="Arial"/>
              <a:buChar char="•"/>
              <a:defRPr sz="111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Teaching workload is strictly 3–6 hours/week; typically one core theory subject without heavy lab overload.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456432"/>
            <a:ext cx="5394960" cy="2240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72200" y="3456432"/>
            <a:ext cx="73152" cy="2240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3639312"/>
            <a:ext cx="4937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  <a:latin typeface="Aptos"/>
              </a:defRPr>
            </a:pPr>
            <a:r>
              <a:t>REGULAR FACULTY EQUALIZATION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142231"/>
            <a:ext cx="4937760" cy="12721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spcAft>
                <a:spcPts val="400"/>
              </a:spcAft>
              <a:buFont typeface="Arial"/>
              <a:buChar char="•"/>
              <a:defRPr sz="111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Target workload: 12–16 hours/week, with a balanced target of 14h/week.</a:t>
            </a:r>
            <a:endParaRPr lang="en-US" dirty="0"/>
          </a:p>
          <a:p>
            <a:pPr marL="285750" indent="-285750">
              <a:spcAft>
                <a:spcPts val="400"/>
              </a:spcAft>
              <a:buFont typeface="Arial"/>
              <a:buChar char="•"/>
              <a:defRPr sz="111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Typical mix: 6–8h theory + 6–8h practical mentoring.</a:t>
            </a:r>
          </a:p>
          <a:p>
            <a:pPr marL="285750" indent="-285750">
              <a:spcAft>
                <a:spcPts val="400"/>
              </a:spcAft>
              <a:buFont typeface="Arial"/>
              <a:buChar char="•"/>
              <a:defRPr sz="111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Round-robin lab assignment dynamically distributes practical batches.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cvm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6957"/>
            <a:ext cx="1277806" cy="763982"/>
          </a:xfrm>
          <a:prstGeom prst="rect">
            <a:avLst/>
          </a:prstGeom>
        </p:spPr>
      </p:pic>
      <p:pic>
        <p:nvPicPr>
          <p:cNvPr id="34" name="Picture 33" descr="adit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4559" y="73152"/>
            <a:ext cx="1141513" cy="7577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84048" y="228600"/>
            <a:ext cx="109728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1097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Aptos"/>
              </a:defRPr>
            </a:pPr>
            <a:r>
              <a:t>LOGO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16768" y="228600"/>
            <a:ext cx="109728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16768" y="228600"/>
            <a:ext cx="1097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Aptos"/>
              </a:defRPr>
            </a:pPr>
            <a:r>
              <a:t>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46888"/>
            <a:ext cx="8869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4338CA"/>
                </a:solidFill>
                <a:latin typeface="Aptos"/>
              </a:defRPr>
            </a:pPr>
            <a:r>
              <a:t>CVM UNIVERSITY  •  A. D. PATEL INSTITUTE OF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22960"/>
            <a:ext cx="10881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B1426"/>
                </a:solidFill>
                <a:latin typeface="Aptos"/>
              </a:defRPr>
            </a:pPr>
            <a:r>
              <a:t>Section 6: AI Timetable Engine &amp; Academic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98448"/>
            <a:ext cx="10698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Aptos"/>
              </a:defRPr>
            </a:pPr>
            <a:r>
              <a:t>Constraint Satisfaction Problem (CSP) engine + official timetable rendering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10881360" cy="10972"/>
          </a:xfrm>
          <a:prstGeom prst="rect">
            <a:avLst/>
          </a:prstGeom>
          <a:solidFill>
            <a:srgbClr val="DD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1874519"/>
            <a:ext cx="4800600" cy="3931920"/>
          </a:xfrm>
          <a:prstGeom prst="round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121408"/>
            <a:ext cx="4251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891B2"/>
                </a:solidFill>
                <a:latin typeface="Aptos"/>
              </a:defRPr>
            </a:pPr>
            <a:r>
              <a:t>AUTOMATED CSP ENGINE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651760"/>
            <a:ext cx="310896" cy="310896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651760"/>
            <a:ext cx="31089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1">
                <a:solidFill>
                  <a:srgbClr val="FFFFFF"/>
                </a:solidFill>
                <a:latin typeface="Aptos"/>
              </a:defRPr>
            </a:pPr>
            <a:r>
              <a:t>Zero Double-Booking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2" y="2624328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CBD5E1"/>
                </a:solidFill>
                <a:latin typeface="Aptos"/>
              </a:defRPr>
            </a:pPr>
            <a:r>
              <a:t>Set-based faculty collision checking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218688"/>
            <a:ext cx="310896" cy="310896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218688"/>
            <a:ext cx="31089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191256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1">
                <a:solidFill>
                  <a:srgbClr val="FFFFFF"/>
                </a:solidFill>
                <a:latin typeface="Aptos"/>
              </a:defRPr>
            </a:pPr>
            <a:r>
              <a:t>Saturday Holiday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7792" y="3191256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CBD5E1"/>
                </a:solidFill>
                <a:latin typeface="Aptos"/>
              </a:defRPr>
            </a:pPr>
            <a:r>
              <a:t>Monday–Friday schedule only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785615"/>
            <a:ext cx="310896" cy="310896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785615"/>
            <a:ext cx="31089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758183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1">
                <a:solidFill>
                  <a:srgbClr val="FFFFFF"/>
                </a:solidFill>
                <a:latin typeface="Aptos"/>
              </a:defRPr>
            </a:pPr>
            <a:r>
              <a:t>Lunch Invariant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07792" y="3758183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CBD5E1"/>
                </a:solidFill>
                <a:latin typeface="Aptos"/>
              </a:defRPr>
            </a:pPr>
            <a:r>
              <a:t>12:40 PM – 1:25 PM preserved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352544"/>
            <a:ext cx="310896" cy="310896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352544"/>
            <a:ext cx="31089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32511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1">
                <a:solidFill>
                  <a:srgbClr val="FFFFFF"/>
                </a:solidFill>
                <a:latin typeface="Aptos"/>
              </a:defRPr>
            </a:pPr>
            <a:r>
              <a:t>Parallel Electives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07792" y="4325112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CBD5E1"/>
                </a:solidFill>
                <a:latin typeface="Aptos"/>
              </a:defRPr>
            </a:pPr>
            <a:r>
              <a:t>Same time, separate classrooms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919472"/>
            <a:ext cx="310896" cy="310896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919472"/>
            <a:ext cx="310896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892040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30" b="1">
                <a:solidFill>
                  <a:srgbClr val="FFFFFF"/>
                </a:solidFill>
                <a:latin typeface="Aptos"/>
              </a:defRPr>
            </a:pPr>
            <a:r>
              <a:t>Practical Blocks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07792" y="4892040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CBD5E1"/>
                </a:solidFill>
                <a:latin typeface="Aptos"/>
              </a:defRPr>
            </a:pPr>
            <a:r>
              <a:t>Contiguous 2-hour lab blocks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0" y="1874519"/>
            <a:ext cx="5806440" cy="3931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89320" y="2121408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4338CA"/>
                </a:solidFill>
                <a:latin typeface="Aptos"/>
              </a:defRPr>
            </a:pPr>
            <a:r>
              <a:t>DETAILED TIMETABLE 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2670048"/>
            <a:ext cx="5074920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rPr sz="1400"/>
              <a:t>• Academic metadata strip</a:t>
            </a:r>
          </a:p>
          <a:p>
            <a:pPr>
              <a:spcAft>
                <a:spcPts val="7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rPr sz="1400"/>
              <a:t>• Clean text-based timetable cells</a:t>
            </a:r>
          </a:p>
          <a:p>
            <a:pPr>
              <a:spcAft>
                <a:spcPts val="7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rPr sz="1400"/>
              <a:t>• Full Course Legend with L-T-P-C</a:t>
            </a:r>
          </a:p>
          <a:p>
            <a:pPr>
              <a:spcAft>
                <a:spcPts val="7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rPr sz="1400"/>
              <a:t>• Faculty workload cards</a:t>
            </a:r>
          </a:p>
          <a:p>
            <a:pPr>
              <a:spcAft>
                <a:spcPts val="700"/>
              </a:spcAft>
              <a:defRPr sz="1200">
                <a:solidFill>
                  <a:srgbClr val="1F2937"/>
                </a:solidFill>
                <a:latin typeface="Aptos"/>
              </a:defRPr>
            </a:pPr>
            <a:r>
              <a:rPr sz="1400"/>
              <a:t>• Interactive period editing with live clash detection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89320" y="5074920"/>
            <a:ext cx="1371600" cy="347472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89320" y="5074920"/>
            <a:ext cx="1371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CSP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79792" y="5074920"/>
            <a:ext cx="1645920" cy="34747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79792" y="5074920"/>
            <a:ext cx="16459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COLLISION-FREE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53728" y="5074920"/>
            <a:ext cx="1508760" cy="34747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53728" y="5074920"/>
            <a:ext cx="15087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EXPORTABLE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cvm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6957"/>
            <a:ext cx="1191074" cy="763982"/>
          </a:xfrm>
          <a:prstGeom prst="rect">
            <a:avLst/>
          </a:prstGeom>
        </p:spPr>
      </p:pic>
      <p:pic>
        <p:nvPicPr>
          <p:cNvPr id="45" name="Picture 44" descr="adit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7827" y="73152"/>
            <a:ext cx="1228245" cy="7268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84048" y="228600"/>
            <a:ext cx="109728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1097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Aptos"/>
              </a:defRPr>
            </a:pPr>
            <a:r>
              <a:t>LOGO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16768" y="228600"/>
            <a:ext cx="109728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16768" y="228600"/>
            <a:ext cx="1097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Aptos"/>
              </a:defRPr>
            </a:pPr>
            <a:r>
              <a:t>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46888"/>
            <a:ext cx="8869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4338CA"/>
                </a:solidFill>
                <a:latin typeface="Aptos"/>
              </a:defRPr>
            </a:pPr>
            <a:r>
              <a:t>CVM UNIVERSITY  •  A. D. PATEL INSTITUTE OF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22960"/>
            <a:ext cx="10881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B1426"/>
                </a:solidFill>
                <a:latin typeface="Aptos"/>
              </a:defRPr>
            </a:pPr>
            <a:r>
              <a:t>System Verification &amp; Export Suite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98448"/>
            <a:ext cx="10698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Aptos"/>
              </a:defRPr>
            </a:pPr>
            <a:r>
              <a:t>Six automated invariants verify the generated institute-wide schedule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10881360" cy="10972"/>
          </a:xfrm>
          <a:prstGeom prst="rect">
            <a:avLst/>
          </a:prstGeom>
          <a:solidFill>
            <a:srgbClr val="DD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1828800"/>
            <a:ext cx="3401568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2959" y="2039112"/>
            <a:ext cx="50292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2048256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199339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B1426"/>
                </a:solidFill>
                <a:latin typeface="Aptos"/>
              </a:defRPr>
            </a:pPr>
            <a:r>
              <a:t>8 Engineering Departments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331720"/>
            <a:ext cx="233172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64748B"/>
                </a:solidFill>
                <a:latin typeface="Aptos"/>
              </a:defRPr>
            </a:pPr>
            <a:r>
              <a:rPr sz="1050"/>
              <a:t>Div 1 &amp; Div 2 generated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1828800"/>
            <a:ext cx="3401568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53712" y="2039112"/>
            <a:ext cx="50292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53712" y="2048256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93792" y="199339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B1426"/>
                </a:solidFill>
                <a:latin typeface="Aptos"/>
              </a:defRPr>
            </a:pPr>
            <a:r>
              <a:t>Zero Faculty Collisions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3792" y="2331720"/>
            <a:ext cx="233172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64748B"/>
                </a:solidFill>
                <a:latin typeface="Aptos"/>
              </a:defRPr>
            </a:pPr>
            <a:r>
              <a:rPr sz="1050"/>
              <a:t>No double-booking across institute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3" y="1828800"/>
            <a:ext cx="3401568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284463" y="2039112"/>
            <a:ext cx="50292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84463" y="2048256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24544" y="199339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B1426"/>
                </a:solidFill>
                <a:latin typeface="Aptos"/>
              </a:defRPr>
            </a:pPr>
            <a:r>
              <a:t>Faculty Pooling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24544" y="2331720"/>
            <a:ext cx="233172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64748B"/>
                </a:solidFill>
                <a:latin typeface="Aptos"/>
              </a:defRPr>
            </a:pPr>
            <a:r>
              <a:rPr sz="1050"/>
              <a:t>IT ⇄ AIDS • CE ⇄ CSD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246120"/>
            <a:ext cx="3401568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22959" y="3456432"/>
            <a:ext cx="50292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59" y="3465576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34107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B1426"/>
                </a:solidFill>
                <a:latin typeface="Aptos"/>
              </a:defRPr>
            </a:pPr>
            <a:r>
              <a:t>Saturday Invariant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3749039"/>
            <a:ext cx="233172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64748B"/>
                </a:solidFill>
                <a:latin typeface="Aptos"/>
              </a:defRPr>
            </a:pPr>
            <a:r>
              <a:rPr sz="1050"/>
              <a:t>0 Saturday slots booked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70832" y="3246120"/>
            <a:ext cx="3401568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553712" y="3456432"/>
            <a:ext cx="50292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53712" y="3465576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93792" y="34107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B1426"/>
                </a:solidFill>
                <a:latin typeface="Aptos"/>
              </a:defRPr>
            </a:pPr>
            <a:r>
              <a:t>Parallel Electives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93792" y="3749039"/>
            <a:ext cx="23317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64748B"/>
                </a:solidFill>
                <a:latin typeface="Aptos"/>
              </a:defRPr>
            </a:pPr>
            <a:r>
              <a:rPr sz="1050"/>
              <a:t>Separate rooms, same time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01583" y="3246120"/>
            <a:ext cx="3401568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284463" y="3456432"/>
            <a:ext cx="50292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84463" y="3465576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4544" y="34107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0B1426"/>
                </a:solidFill>
                <a:latin typeface="Aptos"/>
              </a:defRPr>
            </a:pPr>
            <a:r>
              <a:t>Lab Timing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24544" y="3749039"/>
            <a:ext cx="233172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80" b="0">
                <a:solidFill>
                  <a:srgbClr val="64748B"/>
                </a:solidFill>
                <a:latin typeface="Aptos"/>
              </a:defRPr>
            </a:pPr>
            <a:r>
              <a:rPr sz="1050"/>
              <a:t>Non-overlapping practical timing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4892040"/>
            <a:ext cx="10927080" cy="1005840"/>
          </a:xfrm>
          <a:prstGeom prst="round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51023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Aptos"/>
              </a:defRPr>
            </a:pPr>
            <a:r>
              <a:t>EXPORT SUITE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51760" y="5029200"/>
            <a:ext cx="1874519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651760" y="5029200"/>
            <a:ext cx="187451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A4 Landscape Print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09160" y="5029200"/>
            <a:ext cx="1874519" cy="347472"/>
          </a:xfrm>
          <a:prstGeom prst="roundRect">
            <a:avLst/>
          </a:prstGeom>
          <a:solidFill>
            <a:srgbClr val="7E2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709160" y="5029200"/>
            <a:ext cx="187451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High-Resolution PNG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766560" y="5029200"/>
            <a:ext cx="1874519" cy="34747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766560" y="5029200"/>
            <a:ext cx="187451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Excel / CSV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823960" y="5029200"/>
            <a:ext cx="1874519" cy="34747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823960" y="5029200"/>
            <a:ext cx="1874519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Interactive Period Editor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3" name="Picture 52" descr="cvm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6957"/>
            <a:ext cx="1265415" cy="751592"/>
          </a:xfrm>
          <a:prstGeom prst="rect">
            <a:avLst/>
          </a:prstGeom>
        </p:spPr>
      </p:pic>
      <p:pic>
        <p:nvPicPr>
          <p:cNvPr id="54" name="Picture 53" descr="adit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0754" y="73152"/>
            <a:ext cx="1135318" cy="7453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84048" y="228600"/>
            <a:ext cx="109728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4048" y="228600"/>
            <a:ext cx="1097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Aptos"/>
              </a:defRPr>
            </a:pPr>
            <a:r>
              <a:t>LOGO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16768" y="228600"/>
            <a:ext cx="1097280" cy="475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16768" y="228600"/>
            <a:ext cx="10972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Aptos"/>
              </a:defRPr>
            </a:pPr>
            <a:r>
              <a:t>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46888"/>
            <a:ext cx="8869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4338CA"/>
                </a:solidFill>
                <a:latin typeface="Aptos"/>
              </a:defRPr>
            </a:pPr>
            <a:r>
              <a:t>CVM UNIVERSITY  •  A. D. PATEL INSTITUTE OF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22960"/>
            <a:ext cx="108813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0B1426"/>
                </a:solidFill>
                <a:latin typeface="Aptos"/>
              </a:defRPr>
            </a:pPr>
            <a:r>
              <a:t>Conclusion, Future Scope &amp; 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298448"/>
            <a:ext cx="10698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Aptos"/>
              </a:defRPr>
            </a:pPr>
            <a:r>
              <a:t>AI-driven scheduling designed for faster, fairer and more reliable academic operations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10881360" cy="10972"/>
          </a:xfrm>
          <a:prstGeom prst="rect">
            <a:avLst/>
          </a:prstGeom>
          <a:solidFill>
            <a:srgbClr val="DD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" y="1783080"/>
            <a:ext cx="507492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011680"/>
            <a:ext cx="4526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4338CA"/>
                </a:solidFill>
                <a:latin typeface="Aptos"/>
              </a:defRPr>
            </a:pPr>
            <a:r>
              <a:t>KEY ACHIEVEMENTS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78608"/>
            <a:ext cx="4434840" cy="20851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spcAft>
                <a:spcPts val="700"/>
              </a:spcAft>
              <a:buFont typeface="Arial"/>
              <a:buChar char="•"/>
              <a:defRPr sz="115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Manual 2-week drafting process → instantaneous </a:t>
            </a:r>
            <a:r>
              <a:rPr lang="en-US" sz="1400" dirty="0"/>
              <a:t>150ms</a:t>
            </a:r>
            <a:r>
              <a:rPr sz="1400" dirty="0"/>
              <a:t> automated execution.</a:t>
            </a:r>
            <a:endParaRPr lang="en-US" dirty="0"/>
          </a:p>
          <a:p>
            <a:pPr marL="285750" indent="-285750">
              <a:spcAft>
                <a:spcPts val="700"/>
              </a:spcAft>
              <a:buFont typeface="Arial"/>
              <a:buChar char="•"/>
              <a:defRPr sz="115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100% collision-free schedules with mathematically checked constraints.</a:t>
            </a:r>
          </a:p>
          <a:p>
            <a:pPr marL="285750" indent="-285750">
              <a:spcAft>
                <a:spcPts val="700"/>
              </a:spcAft>
              <a:buFont typeface="Arial"/>
              <a:buChar char="•"/>
              <a:defRPr sz="115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 Balanced workloads across all 55 professors with zero unassigned faculty.</a:t>
            </a:r>
          </a:p>
          <a:p>
            <a:pPr marL="285750" indent="-285750">
              <a:spcAft>
                <a:spcPts val="700"/>
              </a:spcAft>
              <a:buFont typeface="Arial"/>
              <a:buChar char="•"/>
              <a:defRPr sz="115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 Standalone architecture using standard Python 3 and native browser JavaScript.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783080"/>
            <a:ext cx="5532120" cy="3429000"/>
          </a:xfrm>
          <a:prstGeom prst="roundRect">
            <a:avLst/>
          </a:prstGeom>
          <a:solidFill>
            <a:srgbClr val="0B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891B2"/>
                </a:solidFill>
                <a:latin typeface="Aptos"/>
              </a:defRPr>
            </a:pPr>
            <a:r>
              <a:t>FUTURE ROADMAP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578608"/>
            <a:ext cx="4754880" cy="137473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spcAft>
                <a:spcPts val="800"/>
              </a:spcAft>
              <a:buFont typeface="Arial"/>
              <a:buChar char="•"/>
              <a:defRPr sz="1150">
                <a:solidFill>
                  <a:srgbClr val="E2E8F0"/>
                </a:solidFill>
                <a:latin typeface="Aptos"/>
              </a:defRPr>
            </a:pPr>
            <a:r>
              <a:rPr sz="1400" dirty="0"/>
              <a:t>Student Elective Polling — preferences + automated division sizing</a:t>
            </a:r>
            <a:endParaRPr lang="en-US"/>
          </a:p>
          <a:p>
            <a:pPr marL="285750" indent="-285750">
              <a:spcAft>
                <a:spcPts val="800"/>
              </a:spcAft>
              <a:buFont typeface="Arial"/>
              <a:buChar char="•"/>
              <a:defRPr sz="1150">
                <a:solidFill>
                  <a:srgbClr val="E2E8F0"/>
                </a:solidFill>
                <a:latin typeface="Aptos"/>
              </a:defRPr>
            </a:pPr>
            <a:r>
              <a:rPr sz="1400" dirty="0"/>
              <a:t> Calendar Sync — Google Calendar + Apple iCal</a:t>
            </a:r>
          </a:p>
          <a:p>
            <a:pPr marL="285750" indent="-285750">
              <a:spcAft>
                <a:spcPts val="800"/>
              </a:spcAft>
              <a:buFont typeface="Arial"/>
              <a:buChar char="•"/>
              <a:defRPr sz="1150">
                <a:solidFill>
                  <a:srgbClr val="E2E8F0"/>
                </a:solidFill>
                <a:latin typeface="Aptos"/>
              </a:defRPr>
            </a:pPr>
            <a:r>
              <a:rPr sz="1400" dirty="0"/>
              <a:t> IoT Smart Classrooms — real-time room re-allocation from attendance sensors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440680"/>
            <a:ext cx="10881360" cy="777240"/>
          </a:xfrm>
          <a:prstGeom prst="round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5550408"/>
            <a:ext cx="10424160" cy="3539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rPr dirty="0"/>
              <a:t>🎉 THANK YOU! 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868680" y="5843016"/>
            <a:ext cx="104241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80" b="0">
                <a:solidFill>
                  <a:srgbClr val="E0E7FF"/>
                </a:solidFill>
                <a:latin typeface="Aptos"/>
              </a:defRPr>
            </a:pPr>
            <a:r>
              <a:rPr/>
              <a:t>Desai Aryan M. (12402080601009)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-12390" y="-24780"/>
            <a:ext cx="12191695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cvm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6957"/>
            <a:ext cx="1184879" cy="751591"/>
          </a:xfrm>
          <a:prstGeom prst="rect">
            <a:avLst/>
          </a:prstGeom>
        </p:spPr>
      </p:pic>
      <p:pic>
        <p:nvPicPr>
          <p:cNvPr id="23" name="Picture 22" descr="adit_logo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803" y="73152"/>
            <a:ext cx="1197269" cy="7330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157</cp:revision>
  <dcterms:created xsi:type="dcterms:W3CDTF">2013-01-27T09:14:16Z</dcterms:created>
  <dcterms:modified xsi:type="dcterms:W3CDTF">2026-10-05T19:16:15Z</dcterms:modified>
  <cp:category/>
</cp:coreProperties>
</file>